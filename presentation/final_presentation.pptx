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Циљ је да за сваког играча пре утакмице проценим број FPL поена. Главни циљ био је временски исправан тест без цурења података и поређење са OpenFPL радом.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Тренирао сам на сезонама 2020/21–2023/24, а 2024/25 оставио само за тест. Расподела има много нула и дугачак реп, па гледам RMSE и категорије, не само MAE.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Сва обележја користе shift један, одвојена су по сезони и играчу, а double gameweek не види исход другог меча. Поређени су једноставни baseline-и, Tier-0, Linear, RF и XGBoost.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GW32–38 најбољи је необтежени XGBoost. RF и линеарна регресија су веома близу. Тежински и position ансамбл су лошији, што је важан негативан резултат.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 односу на OpenFPL рад бољи сам за Zeros и Tickers, а слабији за Blanks и Haulers. Поређење је делимично јер немам сва Understat и availability обележја. Највеће грешке су ретки голови, пенали и clean sheet учинци.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Најважнији резултат је поуздан временски pipeline и јасна baseline лествица. XGBoost је најбољи, али добитак је мали. Следеће су prediction интервали, свежа availability обележја и практичан оптимизатор.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28016" cy="4297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234440"/>
            <a:ext cx="9875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Предвиђање FPL поена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743200"/>
            <a:ext cx="9692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BFDBFE"/>
                </a:solidFill>
                <a:latin typeface="Arial"/>
              </a:rPr>
              <a:t>Leakage-safe ML pipeline и делимична репродукција OpenFPL рада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5166360"/>
            <a:ext cx="9509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Машинско учење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C1E38"/>
                </a:solidFill>
                <a:latin typeface="Arial"/>
              </a:rPr>
              <a:t>Подаци: много нула, ретки велики учинци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46520"/>
            <a:ext cx="2057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OpenFPL reproduction</a:t>
            </a:r>
          </a:p>
        </p:txBody>
      </p:sp>
      <p:pic>
        <p:nvPicPr>
          <p:cNvPr id="5" name="Picture 4" descr="eda_target_distribution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2194"/>
            <a:ext cx="7406640" cy="40736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325880"/>
            <a:ext cx="320040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75904" y="1399032"/>
            <a:ext cx="29077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rial"/>
              </a:rPr>
              <a:t>TRAIN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8" y="1709928"/>
            <a:ext cx="298094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2563EB"/>
                </a:solidFill>
                <a:latin typeface="Arial"/>
              </a:rPr>
              <a:t>94.164 реда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697480"/>
            <a:ext cx="320040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75904" y="2770632"/>
            <a:ext cx="29077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rial"/>
              </a:rPr>
              <a:t>TEST 2024/25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3081528"/>
            <a:ext cx="298094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059669"/>
                </a:solidFill>
                <a:latin typeface="Arial"/>
              </a:rPr>
              <a:t>24.394 реда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069080"/>
            <a:ext cx="320040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4142232"/>
            <a:ext cx="29077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rial"/>
              </a:rPr>
              <a:t>PROSPECTIVE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4453128"/>
            <a:ext cx="298094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7C3AED"/>
                </a:solidFill>
                <a:latin typeface="Arial"/>
              </a:rPr>
              <a:t>GW32–38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39496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  <a:latin typeface="Arial"/>
              </a:rPr>
              <a:t>Јединица: играч–утакмица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C1E38"/>
                </a:solidFill>
                <a:latin typeface="Arial"/>
              </a:rPr>
              <a:t>Методологија: прошлост не сме видети будућност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46520"/>
            <a:ext cx="2057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OpenFPL reproduction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240280" cy="1600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9659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 сезона
FPL података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8648" y="233172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0C1E38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920240"/>
            <a:ext cx="2240280" cy="16002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057400"/>
            <a:ext cx="19659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shift(1)
rolling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8" y="233172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0C1E38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920240"/>
            <a:ext cx="2240280" cy="1600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57400"/>
            <a:ext cx="19659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9 модела
+ baseline-и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9368" y="233172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0C1E38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920240"/>
            <a:ext cx="2240280" cy="1600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057400"/>
            <a:ext cx="19659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2024/25
GW32–38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10241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E293B"/>
                </a:solidFill>
                <a:latin typeface="Arial"/>
              </a:rPr>
              <a:t>DGW-safe · fixture-specific FDR · median imputation learned on train · stable-club CV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C1E38"/>
                </a:solidFill>
                <a:latin typeface="Arial"/>
              </a:rPr>
              <a:t>Резултат: три најбоља модела су врло близу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46520"/>
            <a:ext cx="2057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OpenFPL reproduction</a:t>
            </a:r>
          </a:p>
        </p:txBody>
      </p:sp>
      <p:pic>
        <p:nvPicPr>
          <p:cNvPr id="5" name="Picture 4" descr="model_comparison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42308"/>
            <a:ext cx="8229600" cy="29391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69680" y="1325880"/>
            <a:ext cx="265176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5984" y="1399032"/>
            <a:ext cx="23591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rial"/>
              </a:rPr>
              <a:t>XGBOOST RMSE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79408" y="1709928"/>
            <a:ext cx="243230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059669"/>
                </a:solidFill>
                <a:latin typeface="Arial"/>
              </a:rPr>
              <a:t>1,842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2697480"/>
            <a:ext cx="265176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15984" y="2770632"/>
            <a:ext cx="23591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rial"/>
              </a:rPr>
              <a:t>RF RMSE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9408" y="3081528"/>
            <a:ext cx="243230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2563EB"/>
                </a:solidFill>
                <a:latin typeface="Arial"/>
              </a:rPr>
              <a:t>1,846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4069080"/>
            <a:ext cx="265176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4142232"/>
            <a:ext cx="23591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rial"/>
              </a:rPr>
              <a:t>LINEAR 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4453128"/>
            <a:ext cx="243230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7C3AED"/>
                </a:solidFill>
                <a:latin typeface="Arial"/>
              </a:rPr>
              <a:t>1,856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5349240"/>
            <a:ext cx="2651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DC2626"/>
                </a:solidFill>
                <a:latin typeface="Arial"/>
              </a:rPr>
              <a:t>Сложеније ≠ боље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C1E38"/>
                </a:solidFill>
                <a:latin typeface="Arial"/>
              </a:rPr>
              <a:t>OpenFPL поређење и главни failure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46520"/>
            <a:ext cx="2057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OpenFPL reproduction</a:t>
            </a:r>
          </a:p>
        </p:txBody>
      </p:sp>
      <p:pic>
        <p:nvPicPr>
          <p:cNvPr id="5" name="Picture 4" descr="category_rmse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63090"/>
            <a:ext cx="6995160" cy="34975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143000"/>
            <a:ext cx="397763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C1E38"/>
                </a:solidFill>
                <a:latin typeface="Arial"/>
              </a:rPr>
              <a:t>Највећи промашаји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828800"/>
            <a:ext cx="3611880" cy="80467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64424" y="1901952"/>
            <a:ext cx="33192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rial"/>
              </a:rPr>
              <a:t>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7848" y="2212848"/>
            <a:ext cx="33924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DC2626"/>
                </a:solidFill>
                <a:latin typeface="Arial"/>
              </a:rPr>
              <a:t>Mbeumo: 18 → 4,73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880360"/>
            <a:ext cx="3611880" cy="80467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64424" y="2953512"/>
            <a:ext cx="33192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rial"/>
              </a:rPr>
              <a:t>#2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3264408"/>
            <a:ext cx="33924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DC2626"/>
                </a:solidFill>
                <a:latin typeface="Arial"/>
              </a:rPr>
              <a:t>Colwill: 15 → 1,80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931920"/>
            <a:ext cx="3611880" cy="80467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4" y="4005072"/>
            <a:ext cx="33192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rial"/>
              </a:rPr>
              <a:t>#3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7848" y="4315968"/>
            <a:ext cx="33924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DC2626"/>
                </a:solidFill>
                <a:latin typeface="Arial"/>
              </a:rPr>
              <a:t>Ramsdale: 16 → 3,08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5166360"/>
            <a:ext cx="37033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DC2626"/>
                </a:solidFill>
                <a:latin typeface="Arial"/>
              </a:rPr>
              <a:t>Hauler-и су систематски потцењени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C1E38"/>
                </a:solidFill>
                <a:latin typeface="Arial"/>
              </a:rPr>
              <a:t>Закључак и следећа надоградња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446520"/>
            <a:ext cx="2057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OpenFPL reproduction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29000" cy="15544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399032"/>
            <a:ext cx="31363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rial"/>
              </a:rPr>
              <a:t>ПОУЗДАН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709928"/>
            <a:ext cx="32095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2563EB"/>
                </a:solidFill>
                <a:latin typeface="Arial"/>
              </a:rPr>
              <a:t>Временски split
без leakage-а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325880"/>
            <a:ext cx="3429000" cy="15544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2584" y="1399032"/>
            <a:ext cx="31363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rial"/>
              </a:rPr>
              <a:t>НАЈБОЉИ МОДЕЛ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1709928"/>
            <a:ext cx="32095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059669"/>
                </a:solidFill>
                <a:latin typeface="Arial"/>
              </a:rPr>
              <a:t>XGBoost
RMSE 1,842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325880"/>
            <a:ext cx="3429000" cy="15544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13064" y="1399032"/>
            <a:ext cx="31363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rial"/>
              </a:rPr>
              <a:t>ОТВОРЕН ПРОБЛЕМ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1709928"/>
            <a:ext cx="32095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DC2626"/>
                </a:solidFill>
                <a:latin typeface="Arial"/>
              </a:rPr>
              <a:t>Неизвесност
и hauler-и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49039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C1E38"/>
                </a:solidFill>
                <a:latin typeface="Arial"/>
              </a:rPr>
              <a:t>Следеће: fresh availability → prediction intervals → оптимизатор тима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54880"/>
            <a:ext cx="9966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475569"/>
                </a:solidFill>
                <a:latin typeface="Arial"/>
              </a:rPr>
              <a:t>Најважнија лекција: јак baseline и исправна евалуација вреде више од саме сложености.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